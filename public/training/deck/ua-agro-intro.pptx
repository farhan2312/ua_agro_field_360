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4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61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0" y="2743200"/>
            <a:ext cx="6949440" cy="6949440"/>
          </a:xfrm>
          <a:prstGeom prst="ellipse">
            <a:avLst/>
          </a:prstGeom>
          <a:solidFill>
            <a:srgbClr val="5FA463">
              <a:alpha val="2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8595360" y="-3017520"/>
            <a:ext cx="7223760" cy="7223760"/>
          </a:xfrm>
          <a:prstGeom prst="ellipse">
            <a:avLst/>
          </a:prstGeom>
          <a:solidFill>
            <a:srgbClr val="2C5F2D">
              <a:alpha val="3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784080" y="4297680"/>
            <a:ext cx="4023360" cy="4023360"/>
          </a:xfrm>
          <a:prstGeom prst="ellipse">
            <a:avLst/>
          </a:prstGeom>
          <a:solidFill>
            <a:srgbClr val="8FB56B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-1737360" y="-2011680"/>
            <a:ext cx="3474720" cy="3474720"/>
          </a:xfrm>
          <a:prstGeom prst="ellipse">
            <a:avLst/>
          </a:prstGeom>
          <a:solidFill>
            <a:srgbClr val="8FB56B">
              <a:alpha val="1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295748" y="658368"/>
            <a:ext cx="1600200" cy="1600200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0" descr="C:/Users/Cosmos/Documents/ua_agro_field_360/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766" y="802386"/>
            <a:ext cx="1312164" cy="13121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8716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Agro · Kisan Sewa Kendra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7200" y="32004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FB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Intelligence Portal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3712464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2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“Field intelligence for every farmer”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175608" y="4617720"/>
            <a:ext cx="3840480" cy="566928"/>
          </a:xfrm>
          <a:prstGeom prst="roundRect">
            <a:avLst>
              <a:gd name="adj" fmla="val 50000"/>
            </a:avLst>
          </a:prstGeom>
          <a:solidFill>
            <a:srgbClr val="F2A72C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175608" y="46177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4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Training Session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57200" y="5321808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B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July 2026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236208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 Khushhali · Kisan Sewa Kendra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468880"/>
            <a:ext cx="4937760" cy="4937760"/>
          </a:xfrm>
          <a:prstGeom prst="ellipse">
            <a:avLst/>
          </a:prstGeom>
          <a:solidFill>
            <a:srgbClr val="5FA463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2103120" y="4297680"/>
            <a:ext cx="4572000" cy="4572000"/>
          </a:xfrm>
          <a:prstGeom prst="ellipse">
            <a:avLst/>
          </a:prstGeom>
          <a:solidFill>
            <a:srgbClr val="8FB56B">
              <a:alpha val="9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698480" y="5120640"/>
            <a:ext cx="2560320" cy="2560320"/>
          </a:xfrm>
          <a:prstGeom prst="ellipse">
            <a:avLst/>
          </a:prstGeom>
          <a:solidFill>
            <a:srgbClr val="F2A72C">
              <a:alpha val="7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292840" y="292608"/>
            <a:ext cx="749808" cy="749808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C:/Users/Cosmos/Documents/ua_agro_field_360/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323" y="360091"/>
            <a:ext cx="614843" cy="6148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portal for the whole field team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548640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farmer visit to organisation-wide campaigns, it all lives in one place.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  <a:effectLst>
            <a:outerShdw blurRad="88900" dist="25400" dir="5400000" algn="bl" rotWithShape="0">
              <a:srgbClr val="1B3A1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841248" y="1920240"/>
            <a:ext cx="749808" cy="74980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09397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193852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360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859536" y="279806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farmer's profile, segment &amp; sales at a glance.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71416" y="1627632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  <a:effectLst>
            <a:outerShdw blurRad="88900" dist="25400" dir="5400000" algn="bl" rotWithShape="0">
              <a:srgbClr val="1B3A1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4764024" y="1920240"/>
            <a:ext cx="749808" cy="74980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093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78424" y="193852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4782312" y="279806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visits with photos, voice notes &amp; follow-ups.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394192" y="1627632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  <a:effectLst>
            <a:outerShdw blurRad="88900" dist="25400" dir="5400000" algn="bl" rotWithShape="0">
              <a:srgbClr val="1B3A1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8686800" y="1920240"/>
            <a:ext cx="749808" cy="74980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536" y="209397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0" y="193852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&amp; Analytics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8705088" y="279806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tiers, lifecycle &amp; drill-down insights.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730752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  <a:effectLst>
            <a:outerShdw blurRad="88900" dist="25400" dir="5400000" algn="bl" rotWithShape="0">
              <a:srgbClr val="1B3A1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841248" y="4023360"/>
            <a:ext cx="749808" cy="74980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" y="4197096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55648" y="40416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Clusters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859536" y="490118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farmers on the map and save target groups.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471416" y="3730752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  <a:effectLst>
            <a:outerShdw blurRad="88900" dist="25400" dir="5400000" algn="bl" rotWithShape="0">
              <a:srgbClr val="1B3A1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4764024" y="4023360"/>
            <a:ext cx="749808" cy="74980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197096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78424" y="40416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4782312" y="490118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run &amp; measure outreach (test vs control).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8394192" y="3730752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  <a:effectLst>
            <a:outerShdw blurRad="88900" dist="25400" dir="5400000" algn="bl" rotWithShape="0">
              <a:srgbClr val="1B3A1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7"/>
          <p:cNvSpPr/>
          <p:nvPr/>
        </p:nvSpPr>
        <p:spPr>
          <a:xfrm>
            <a:off x="8686800" y="4023360"/>
            <a:ext cx="749808" cy="74980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0536" y="4197096"/>
            <a:ext cx="402336" cy="40233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601200" y="40416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Admin</a:t>
            </a:r>
            <a:endParaRPr lang="en-US" sz="1650" dirty="0"/>
          </a:p>
        </p:txBody>
      </p:sp>
      <p:sp>
        <p:nvSpPr>
          <p:cNvPr id="38" name="Text 29"/>
          <p:cNvSpPr/>
          <p:nvPr/>
        </p:nvSpPr>
        <p:spPr>
          <a:xfrm>
            <a:off x="8705088" y="490118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stores, sales imports &amp; bug tracking.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Agro · Kisan Sewa Kendra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468880"/>
            <a:ext cx="4937760" cy="4937760"/>
          </a:xfrm>
          <a:prstGeom prst="ellipse">
            <a:avLst/>
          </a:prstGeom>
          <a:solidFill>
            <a:srgbClr val="5FA463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2103120" y="4297680"/>
            <a:ext cx="4572000" cy="4572000"/>
          </a:xfrm>
          <a:prstGeom prst="ellipse">
            <a:avLst/>
          </a:prstGeom>
          <a:solidFill>
            <a:srgbClr val="8FB56B">
              <a:alpha val="9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698480" y="5120640"/>
            <a:ext cx="2560320" cy="2560320"/>
          </a:xfrm>
          <a:prstGeom prst="ellipse">
            <a:avLst/>
          </a:prstGeom>
          <a:solidFill>
            <a:srgbClr val="F2A72C">
              <a:alpha val="7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292840" y="292608"/>
            <a:ext cx="749808" cy="749808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C:/Users/Cosmos/Documents/ua_agro_field_360/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323" y="360091"/>
            <a:ext cx="614843" cy="6148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we categorise every farmer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548640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segment = how much they spend. Lifecycle = how recently they buy.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1572768"/>
            <a:ext cx="5358384" cy="3950208"/>
          </a:xfrm>
          <a:prstGeom prst="roundRect">
            <a:avLst>
              <a:gd name="adj" fmla="val 2778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68680" y="17373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F2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SEGMENT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20482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all-time base (pre-tax) spend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14400" y="2569464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207008" y="24505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07008" y="27340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₹12,000 and above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14400" y="3483864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207008" y="33649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HNI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07008" y="36484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₹8,000 to ₹11,999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14400" y="4398264"/>
            <a:ext cx="164592" cy="164592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1207008" y="42793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07008" y="45628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₹8,000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91072" y="1572768"/>
            <a:ext cx="5358384" cy="3950208"/>
          </a:xfrm>
          <a:prstGeom prst="roundRect">
            <a:avLst>
              <a:gd name="adj" fmla="val 2778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611112" y="17373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F2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11112" y="20482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how recently they last bought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656832" y="2569464"/>
            <a:ext cx="164592" cy="164592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949440" y="24505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49440" y="27340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purchase in the last 6 months (brand new)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656832" y="3282696"/>
            <a:ext cx="164592" cy="164592"/>
          </a:xfrm>
          <a:prstGeom prst="ellipse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6949440" y="31638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9440" y="3447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in the last 6 months and earlier too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656832" y="3995928"/>
            <a:ext cx="164592" cy="164592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6949440" y="38770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bought 6 to 12 months ago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656832" y="4709160"/>
            <a:ext cx="164592" cy="164592"/>
          </a:xfrm>
          <a:prstGeom prst="ellipse">
            <a:avLst/>
          </a:prstGeom>
          <a:solidFill>
            <a:srgbClr val="6161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6949440" y="45902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949440" y="48737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bought 12+ months ago, or never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48640" y="5669280"/>
            <a:ext cx="11100816" cy="566928"/>
          </a:xfrm>
          <a:prstGeom prst="roundRect">
            <a:avLst>
              <a:gd name="adj" fmla="val 16129"/>
            </a:avLst>
          </a:prstGeom>
          <a:solidFill>
            <a:srgbClr val="1440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farmer's total spend on base (pre-tax) price. Every number in the portal uses base price, never the GST-inclusive amount.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Agro · Kisan Sewa Kendra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468880"/>
            <a:ext cx="4937760" cy="4937760"/>
          </a:xfrm>
          <a:prstGeom prst="ellipse">
            <a:avLst/>
          </a:prstGeom>
          <a:solidFill>
            <a:srgbClr val="5FA463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2103120" y="4297680"/>
            <a:ext cx="4572000" cy="4572000"/>
          </a:xfrm>
          <a:prstGeom prst="ellipse">
            <a:avLst/>
          </a:prstGeom>
          <a:solidFill>
            <a:srgbClr val="8FB56B">
              <a:alpha val="9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698480" y="5120640"/>
            <a:ext cx="2560320" cy="2560320"/>
          </a:xfrm>
          <a:prstGeom prst="ellipse">
            <a:avLst/>
          </a:prstGeom>
          <a:solidFill>
            <a:srgbClr val="F2A72C">
              <a:alpha val="7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292840" y="292608"/>
            <a:ext cx="749808" cy="749808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C:/Users/Cosmos/Documents/ua_agro_field_360/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323" y="360091"/>
            <a:ext cx="614843" cy="6148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548640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sources feed the segments, then one loop turns insight into action.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1572768"/>
            <a:ext cx="1847088" cy="822960"/>
          </a:xfrm>
          <a:prstGeom prst="roundRect">
            <a:avLst>
              <a:gd name="adj" fmla="val 11111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713232" y="175564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6537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169164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261872" y="1984248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officers log on the ground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66928" y="2724912"/>
            <a:ext cx="1847088" cy="822960"/>
          </a:xfrm>
          <a:prstGeom prst="roundRect">
            <a:avLst>
              <a:gd name="adj" fmla="val 11111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713232" y="290779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01752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2843784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upload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261872" y="313639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invoice data import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566928" y="129844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5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INPUTS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414016" y="1984248"/>
            <a:ext cx="256032" cy="0"/>
          </a:xfrm>
          <a:prstGeom prst="line">
            <a:avLst/>
          </a:prstGeom>
          <a:noFill/>
          <a:ln w="28575">
            <a:solidFill>
              <a:srgbClr val="5FA4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2414016" y="3136392"/>
            <a:ext cx="256032" cy="0"/>
          </a:xfrm>
          <a:prstGeom prst="line">
            <a:avLst/>
          </a:prstGeom>
          <a:noFill/>
          <a:ln w="28575">
            <a:solidFill>
              <a:srgbClr val="5FA4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2670048" y="1984248"/>
            <a:ext cx="0" cy="1152144"/>
          </a:xfrm>
          <a:prstGeom prst="line">
            <a:avLst/>
          </a:prstGeom>
          <a:noFill/>
          <a:ln w="28575">
            <a:solidFill>
              <a:srgbClr val="5FA4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2670048" y="2560320"/>
            <a:ext cx="393192" cy="0"/>
          </a:xfrm>
          <a:prstGeom prst="line">
            <a:avLst/>
          </a:prstGeom>
          <a:noFill/>
          <a:ln w="34925">
            <a:solidFill>
              <a:srgbClr val="5FA46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3063240" y="2057400"/>
            <a:ext cx="1005840" cy="1005840"/>
          </a:xfrm>
          <a:prstGeom prst="ellipse">
            <a:avLst/>
          </a:prstGeom>
          <a:solidFill>
            <a:srgbClr val="2C5F2D"/>
          </a:solidFill>
          <a:ln/>
          <a:effectLst>
            <a:outerShdw blurRad="101600" dist="25400" dir="5400000" algn="bl" rotWithShape="0">
              <a:srgbClr val="1B3A1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0984" y="2295144"/>
            <a:ext cx="530352" cy="53035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3785616" y="2011680"/>
            <a:ext cx="420624" cy="420624"/>
          </a:xfrm>
          <a:prstGeom prst="ellipse">
            <a:avLst/>
          </a:prstGeom>
          <a:solidFill>
            <a:srgbClr val="F2A72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1"/>
          <p:cNvSpPr/>
          <p:nvPr/>
        </p:nvSpPr>
        <p:spPr>
          <a:xfrm>
            <a:off x="3785616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2</a:t>
            </a:r>
          </a:p>
        </p:txBody>
      </p:sp>
      <p:sp>
        <p:nvSpPr>
          <p:cNvPr id="28" name="Text 22"/>
          <p:cNvSpPr/>
          <p:nvPr/>
        </p:nvSpPr>
        <p:spPr>
          <a:xfrm>
            <a:off x="2423160" y="3182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segments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2377440" y="3547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lifecycle update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069080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5349240" y="2057400"/>
            <a:ext cx="1005840" cy="1005840"/>
          </a:xfrm>
          <a:prstGeom prst="ellipse">
            <a:avLst/>
          </a:prstGeom>
          <a:solidFill>
            <a:srgbClr val="2C5F2D"/>
          </a:solidFill>
          <a:ln/>
          <a:effectLst>
            <a:outerShdw blurRad="101600" dist="25400" dir="5400000" algn="bl" rotWithShape="0">
              <a:srgbClr val="1B3A1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6984" y="2295144"/>
            <a:ext cx="530352" cy="53035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6071616" y="2011680"/>
            <a:ext cx="420624" cy="420624"/>
          </a:xfrm>
          <a:prstGeom prst="ellipse">
            <a:avLst/>
          </a:prstGeom>
          <a:solidFill>
            <a:srgbClr val="F2A72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7"/>
          <p:cNvSpPr/>
          <p:nvPr/>
        </p:nvSpPr>
        <p:spPr>
          <a:xfrm>
            <a:off x="6071616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4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709160" y="3182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cluster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4663440" y="3547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group of farmers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6355080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38" name="Shape 31"/>
          <p:cNvSpPr/>
          <p:nvPr/>
        </p:nvSpPr>
        <p:spPr>
          <a:xfrm>
            <a:off x="7635240" y="2057400"/>
            <a:ext cx="1005840" cy="1005840"/>
          </a:xfrm>
          <a:prstGeom prst="ellipse">
            <a:avLst/>
          </a:prstGeom>
          <a:solidFill>
            <a:srgbClr val="2C5F2D"/>
          </a:solidFill>
          <a:ln/>
          <a:effectLst>
            <a:outerShdw blurRad="101600" dist="25400" dir="5400000" algn="bl" rotWithShape="0">
              <a:srgbClr val="1B3A1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2984" y="2295144"/>
            <a:ext cx="530352" cy="530352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8357616" y="2011680"/>
            <a:ext cx="420624" cy="420624"/>
          </a:xfrm>
          <a:prstGeom prst="ellipse">
            <a:avLst/>
          </a:prstGeom>
          <a:solidFill>
            <a:srgbClr val="F2A72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3"/>
          <p:cNvSpPr/>
          <p:nvPr/>
        </p:nvSpPr>
        <p:spPr>
          <a:xfrm>
            <a:off x="8357616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4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995160" y="3182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campaign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6949440" y="3547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them, log outreach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8641080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45" name="Shape 37"/>
          <p:cNvSpPr/>
          <p:nvPr/>
        </p:nvSpPr>
        <p:spPr>
          <a:xfrm>
            <a:off x="9921240" y="2057400"/>
            <a:ext cx="1005840" cy="1005840"/>
          </a:xfrm>
          <a:prstGeom prst="ellipse">
            <a:avLst/>
          </a:prstGeom>
          <a:solidFill>
            <a:srgbClr val="2C5F2D"/>
          </a:solidFill>
          <a:ln/>
          <a:effectLst>
            <a:outerShdw blurRad="101600" dist="25400" dir="5400000" algn="bl" rotWithShape="0">
              <a:srgbClr val="1B3A1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8984" y="2295144"/>
            <a:ext cx="530352" cy="530352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10643616" y="2011680"/>
            <a:ext cx="420624" cy="420624"/>
          </a:xfrm>
          <a:prstGeom prst="ellipse">
            <a:avLst/>
          </a:prstGeom>
          <a:solidFill>
            <a:srgbClr val="F2A72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39"/>
          <p:cNvSpPr/>
          <p:nvPr/>
        </p:nvSpPr>
        <p:spPr>
          <a:xfrm>
            <a:off x="10643616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4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9281160" y="3182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uplift</a:t>
            </a:r>
            <a:endParaRPr lang="en-US" sz="1250" dirty="0"/>
          </a:p>
        </p:txBody>
      </p:sp>
      <p:sp>
        <p:nvSpPr>
          <p:cNvPr id="50" name="Text 41"/>
          <p:cNvSpPr/>
          <p:nvPr/>
        </p:nvSpPr>
        <p:spPr>
          <a:xfrm>
            <a:off x="9235440" y="3547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vs control results</a:t>
            </a:r>
            <a:endParaRPr lang="en-US" sz="950" dirty="0"/>
          </a:p>
        </p:txBody>
      </p:sp>
      <p:sp>
        <p:nvSpPr>
          <p:cNvPr id="51" name="Shape 42"/>
          <p:cNvSpPr/>
          <p:nvPr/>
        </p:nvSpPr>
        <p:spPr>
          <a:xfrm>
            <a:off x="822960" y="4069080"/>
            <a:ext cx="10543032" cy="1920240"/>
          </a:xfrm>
          <a:prstGeom prst="roundRect">
            <a:avLst>
              <a:gd name="adj" fmla="val 6667"/>
            </a:avLst>
          </a:prstGeom>
          <a:solidFill>
            <a:srgbClr val="F0F5EC"/>
          </a:solidFill>
          <a:ln w="19050">
            <a:solidFill>
              <a:srgbClr val="5FA4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3"/>
          <p:cNvSpPr/>
          <p:nvPr/>
        </p:nvSpPr>
        <p:spPr>
          <a:xfrm>
            <a:off x="1115568" y="4288536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3584" y="4416552"/>
            <a:ext cx="292608" cy="29260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1783080" y="4270248"/>
            <a:ext cx="926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</a:t>
            </a:r>
            <a:r>
              <a:rPr lang="en-US" sz="1250" i="1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the work and gives it a start &amp; end date</a:t>
            </a:r>
            <a:endParaRPr lang="en-US" sz="1500" dirty="0"/>
          </a:p>
        </p:txBody>
      </p:sp>
      <p:sp>
        <p:nvSpPr>
          <p:cNvPr id="55" name="Shape 45"/>
          <p:cNvSpPr/>
          <p:nvPr/>
        </p:nvSpPr>
        <p:spPr>
          <a:xfrm>
            <a:off x="1143000" y="4983480"/>
            <a:ext cx="4572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1E9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46"/>
          <p:cNvSpPr/>
          <p:nvPr/>
        </p:nvSpPr>
        <p:spPr>
          <a:xfrm>
            <a:off x="1325880" y="50840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CLUSTERS</a:t>
            </a:r>
            <a:endParaRPr lang="en-US" sz="1100" dirty="0"/>
          </a:p>
        </p:txBody>
      </p:sp>
      <p:sp>
        <p:nvSpPr>
          <p:cNvPr id="57" name="Shape 47"/>
          <p:cNvSpPr/>
          <p:nvPr/>
        </p:nvSpPr>
        <p:spPr>
          <a:xfrm>
            <a:off x="1325880" y="5385816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6F0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48"/>
          <p:cNvSpPr/>
          <p:nvPr/>
        </p:nvSpPr>
        <p:spPr>
          <a:xfrm>
            <a:off x="1325880" y="53858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050" dirty="0"/>
          </a:p>
        </p:txBody>
      </p:sp>
      <p:sp>
        <p:nvSpPr>
          <p:cNvPr id="59" name="Shape 49"/>
          <p:cNvSpPr/>
          <p:nvPr/>
        </p:nvSpPr>
        <p:spPr>
          <a:xfrm>
            <a:off x="2697480" y="5385816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6F0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0"/>
          <p:cNvSpPr/>
          <p:nvPr/>
        </p:nvSpPr>
        <p:spPr>
          <a:xfrm>
            <a:off x="2697480" y="53858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050" dirty="0"/>
          </a:p>
        </p:txBody>
      </p:sp>
      <p:sp>
        <p:nvSpPr>
          <p:cNvPr id="61" name="Shape 51"/>
          <p:cNvSpPr/>
          <p:nvPr/>
        </p:nvSpPr>
        <p:spPr>
          <a:xfrm>
            <a:off x="4069080" y="5385816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6F0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52"/>
          <p:cNvSpPr/>
          <p:nvPr/>
        </p:nvSpPr>
        <p:spPr>
          <a:xfrm>
            <a:off x="4069080" y="53858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050" dirty="0"/>
          </a:p>
        </p:txBody>
      </p:sp>
      <p:sp>
        <p:nvSpPr>
          <p:cNvPr id="63" name="Text 53"/>
          <p:cNvSpPr/>
          <p:nvPr/>
        </p:nvSpPr>
        <p:spPr>
          <a:xfrm>
            <a:off x="5806440" y="4983480"/>
            <a:ext cx="1097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 ➜</a:t>
            </a:r>
            <a:endParaRPr lang="en-US" sz="1300" dirty="0"/>
          </a:p>
        </p:txBody>
      </p:sp>
      <p:sp>
        <p:nvSpPr>
          <p:cNvPr id="64" name="Shape 54"/>
          <p:cNvSpPr/>
          <p:nvPr/>
        </p:nvSpPr>
        <p:spPr>
          <a:xfrm>
            <a:off x="6995160" y="4983480"/>
            <a:ext cx="405079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1E9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55"/>
          <p:cNvSpPr/>
          <p:nvPr/>
        </p:nvSpPr>
        <p:spPr>
          <a:xfrm>
            <a:off x="7178040" y="50840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CAMPAIGNS</a:t>
            </a:r>
            <a:endParaRPr lang="en-US" sz="1100" dirty="0"/>
          </a:p>
        </p:txBody>
      </p:sp>
      <p:sp>
        <p:nvSpPr>
          <p:cNvPr id="66" name="Shape 56"/>
          <p:cNvSpPr/>
          <p:nvPr/>
        </p:nvSpPr>
        <p:spPr>
          <a:xfrm>
            <a:off x="7178040" y="5385816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FCEBC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57"/>
          <p:cNvSpPr/>
          <p:nvPr/>
        </p:nvSpPr>
        <p:spPr>
          <a:xfrm>
            <a:off x="7178040" y="53858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6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1</a:t>
            </a:r>
            <a:endParaRPr lang="en-US" sz="1050" dirty="0"/>
          </a:p>
        </p:txBody>
      </p:sp>
      <p:sp>
        <p:nvSpPr>
          <p:cNvPr id="68" name="Shape 58"/>
          <p:cNvSpPr/>
          <p:nvPr/>
        </p:nvSpPr>
        <p:spPr>
          <a:xfrm>
            <a:off x="9006840" y="5385816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FCEBC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59"/>
          <p:cNvSpPr/>
          <p:nvPr/>
        </p:nvSpPr>
        <p:spPr>
          <a:xfrm>
            <a:off x="9006840" y="53858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6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2</a:t>
            </a:r>
            <a:endParaRPr lang="en-US" sz="1050" dirty="0"/>
          </a:p>
        </p:txBody>
      </p:sp>
      <p:sp>
        <p:nvSpPr>
          <p:cNvPr id="70" name="Text 60"/>
          <p:cNvSpPr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Agro · Kisan Sewa Kendra</a:t>
            </a:r>
            <a:endParaRPr lang="en-US" sz="1000" dirty="0"/>
          </a:p>
        </p:txBody>
      </p:sp>
      <p:sp>
        <p:nvSpPr>
          <p:cNvPr id="72" name="Shape 20">
            <a:extLst>
              <a:ext uri="{FF2B5EF4-FFF2-40B4-BE49-F238E27FC236}">
                <a16:creationId xmlns:a16="http://schemas.microsoft.com/office/drawing/2014/main" id="{64F65E8D-0357-4240-DEEF-01925D92CBA4}"/>
              </a:ext>
            </a:extLst>
          </p:cNvPr>
          <p:cNvSpPr/>
          <p:nvPr/>
        </p:nvSpPr>
        <p:spPr>
          <a:xfrm>
            <a:off x="2121408" y="1420368"/>
            <a:ext cx="420624" cy="420624"/>
          </a:xfrm>
          <a:prstGeom prst="ellipse">
            <a:avLst/>
          </a:prstGeom>
          <a:solidFill>
            <a:srgbClr val="F2A72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8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87462C-BF1C-93D2-18A3-A3FE06887C12}"/>
              </a:ext>
            </a:extLst>
          </p:cNvPr>
          <p:cNvSpPr txBox="1"/>
          <p:nvPr/>
        </p:nvSpPr>
        <p:spPr>
          <a:xfrm>
            <a:off x="2130383" y="1495597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44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1-A</a:t>
            </a:r>
            <a:endParaRPr lang="en-GB" sz="1200" b="1" dirty="0">
              <a:solidFill>
                <a:srgbClr val="14401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5" name="Shape 20">
            <a:extLst>
              <a:ext uri="{FF2B5EF4-FFF2-40B4-BE49-F238E27FC236}">
                <a16:creationId xmlns:a16="http://schemas.microsoft.com/office/drawing/2014/main" id="{1CF90DA5-3C16-695E-77C3-0336E3540166}"/>
              </a:ext>
            </a:extLst>
          </p:cNvPr>
          <p:cNvSpPr/>
          <p:nvPr/>
        </p:nvSpPr>
        <p:spPr>
          <a:xfrm>
            <a:off x="2098548" y="2537276"/>
            <a:ext cx="420624" cy="420624"/>
          </a:xfrm>
          <a:prstGeom prst="ellipse">
            <a:avLst/>
          </a:prstGeom>
          <a:solidFill>
            <a:srgbClr val="F2A72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8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EB4FEF-93B7-7FF5-0BFD-51D27D0610D1}"/>
              </a:ext>
            </a:extLst>
          </p:cNvPr>
          <p:cNvSpPr txBox="1"/>
          <p:nvPr/>
        </p:nvSpPr>
        <p:spPr>
          <a:xfrm>
            <a:off x="2107523" y="2612505"/>
            <a:ext cx="396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44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</a:t>
            </a:r>
            <a:endParaRPr lang="en-GB" sz="1200" b="1" dirty="0">
              <a:solidFill>
                <a:srgbClr val="14401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468880"/>
            <a:ext cx="4937760" cy="4937760"/>
          </a:xfrm>
          <a:prstGeom prst="ellipse">
            <a:avLst/>
          </a:prstGeom>
          <a:solidFill>
            <a:srgbClr val="5FA463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2103120" y="4297680"/>
            <a:ext cx="4572000" cy="4572000"/>
          </a:xfrm>
          <a:prstGeom prst="ellipse">
            <a:avLst/>
          </a:prstGeom>
          <a:solidFill>
            <a:srgbClr val="8FB56B">
              <a:alpha val="9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698480" y="5120640"/>
            <a:ext cx="2560320" cy="2560320"/>
          </a:xfrm>
          <a:prstGeom prst="ellipse">
            <a:avLst/>
          </a:prstGeom>
          <a:solidFill>
            <a:srgbClr val="F2A72C">
              <a:alpha val="7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292840" y="292608"/>
            <a:ext cx="749808" cy="749808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C:/Users/Cosmos/Documents/ua_agro_field_360/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323" y="360091"/>
            <a:ext cx="614843" cy="6148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do what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548640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only the pages it needs. System Admin sees everything.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2615184" cy="3840480"/>
          </a:xfrm>
          <a:prstGeom prst="roundRect">
            <a:avLst>
              <a:gd name="adj" fmla="val 4196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  <a:effectLst>
            <a:outerShdw blurRad="76200" dist="25400" dir="5400000" algn="bl" rotWithShape="0">
              <a:srgbClr val="1B3A1B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749808" y="1810512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196596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1792224"/>
            <a:ext cx="1655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Officer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8096" y="24871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STORE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86384" y="2834640"/>
            <a:ext cx="215798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Visit: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field visits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360: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their store's farmers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Repo: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store's visits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store's numbers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their farmers to contact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392424" y="1554480"/>
            <a:ext cx="2615184" cy="3840480"/>
          </a:xfrm>
          <a:prstGeom prst="roundRect">
            <a:avLst>
              <a:gd name="adj" fmla="val 4196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  <a:effectLst>
            <a:outerShdw blurRad="76200" dist="25400" dir="5400000" algn="bl" rotWithShape="0">
              <a:srgbClr val="1B3A1B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3593592" y="1810512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96596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61104" y="1792224"/>
            <a:ext cx="1655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Manager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611880" y="24871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DISTRICT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630168" y="2834640"/>
            <a:ext cx="215798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Officer can, district-wide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Clusters: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only, cannot edit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Stock: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district view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farmers to contact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236208" y="1554480"/>
            <a:ext cx="2615184" cy="3840480"/>
          </a:xfrm>
          <a:prstGeom prst="roundRect">
            <a:avLst>
              <a:gd name="adj" fmla="val 4196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  <a:effectLst>
            <a:outerShdw blurRad="76200" dist="25400" dir="5400000" algn="bl" rotWithShape="0">
              <a:srgbClr val="1B3A1B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6437376" y="1810512"/>
            <a:ext cx="566928" cy="56692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196596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04888" y="1792224"/>
            <a:ext cx="1655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Admin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55664" y="24871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ORGANISATION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6473952" y="2834640"/>
            <a:ext cx="215798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org view + export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Campaigns: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 Plan &amp; Tracker: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&amp; measure results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target audiences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Stores: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9079992" y="1554480"/>
            <a:ext cx="2615184" cy="3840480"/>
          </a:xfrm>
          <a:prstGeom prst="roundRect">
            <a:avLst>
              <a:gd name="adj" fmla="val 4196"/>
            </a:avLst>
          </a:prstGeom>
          <a:solidFill>
            <a:srgbClr val="F0F5EC"/>
          </a:solidFill>
          <a:ln w="12700">
            <a:solidFill>
              <a:srgbClr val="E1E9DD"/>
            </a:solidFill>
            <a:prstDash val="solid"/>
          </a:ln>
          <a:effectLst>
            <a:outerShdw blurRad="76200" dist="25400" dir="5400000" algn="bl" rotWithShape="0">
              <a:srgbClr val="1B3A1B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9281160" y="1810512"/>
            <a:ext cx="566928" cy="566928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608" y="1965960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948672" y="1792224"/>
            <a:ext cx="1655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299448" y="24871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9317736" y="2834640"/>
            <a:ext cx="215798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Central can, plus: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Import: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monthly data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Audit: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review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Tracker: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reports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pages: </a:t>
            </a:r>
            <a:r>
              <a:rPr lang="en-US" sz="10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hidden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48640" y="5596128"/>
            <a:ext cx="11100816" cy="548640"/>
          </a:xfrm>
          <a:prstGeom prst="roundRect">
            <a:avLst>
              <a:gd name="adj" fmla="val 16667"/>
            </a:avLst>
          </a:prstGeom>
          <a:solidFill>
            <a:srgbClr val="1440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7"/>
          <p:cNvSpPr/>
          <p:nvPr/>
        </p:nvSpPr>
        <p:spPr>
          <a:xfrm>
            <a:off x="868680" y="55961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Campaigns page: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and Regional Managers see only their farmers to contact. The Comm Plan, campaign setup, and results tracker are for Central and Admin.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Agro · Kisan Sewa Kendra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4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0" y="2743200"/>
            <a:ext cx="6949440" cy="6949440"/>
          </a:xfrm>
          <a:prstGeom prst="ellipse">
            <a:avLst/>
          </a:prstGeom>
          <a:solidFill>
            <a:srgbClr val="5FA463">
              <a:alpha val="2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8595360" y="-3017520"/>
            <a:ext cx="7223760" cy="7223760"/>
          </a:xfrm>
          <a:prstGeom prst="ellipse">
            <a:avLst/>
          </a:prstGeom>
          <a:solidFill>
            <a:srgbClr val="2C5F2D">
              <a:alpha val="3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784080" y="4297680"/>
            <a:ext cx="4023360" cy="4023360"/>
          </a:xfrm>
          <a:prstGeom prst="ellipse">
            <a:avLst/>
          </a:prstGeom>
          <a:solidFill>
            <a:srgbClr val="8FB56B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-1737360" y="-2011680"/>
            <a:ext cx="3474720" cy="3474720"/>
          </a:xfrm>
          <a:prstGeom prst="ellipse">
            <a:avLst/>
          </a:prstGeom>
          <a:solidFill>
            <a:srgbClr val="8FB56B">
              <a:alpha val="1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570068" y="566928"/>
            <a:ext cx="1051560" cy="1051560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0" descr="C:/Users/Cosmos/Documents/ua_agro_field_360/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708" y="661568"/>
            <a:ext cx="862279" cy="86227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4884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let's see it live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7200" y="29718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B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walk through the portal together in a live demo.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078328" y="3977640"/>
            <a:ext cx="603504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078328" y="41148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PORTAL ANYTIME AT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78328" y="44074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field360.uaagro.in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Agro · Kisan Sewa Kendra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603</Words>
  <Application>Microsoft Office PowerPoint</Application>
  <PresentationFormat>Widescreen</PresentationFormat>
  <Paragraphs>120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Farhan</cp:lastModifiedBy>
  <cp:revision>3</cp:revision>
  <dcterms:created xsi:type="dcterms:W3CDTF">2026-07-31T08:00:09Z</dcterms:created>
  <dcterms:modified xsi:type="dcterms:W3CDTF">2026-07-31T08:19:35Z</dcterms:modified>
</cp:coreProperties>
</file>